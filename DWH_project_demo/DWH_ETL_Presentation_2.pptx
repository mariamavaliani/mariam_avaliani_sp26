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B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B49"/>
          </a:solidFill>
        </p:spPr>
      </p:sp>
      <p:sp>
        <p:nvSpPr>
          <p:cNvPr id="3" name="Shape 1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4" name="Shape 2"/>
          <p:cNvSpPr/>
          <p:nvPr/>
        </p:nvSpPr>
        <p:spPr>
          <a:xfrm>
            <a:off x="10607040" y="3840480"/>
            <a:ext cx="2926080" cy="2926080"/>
          </a:xfrm>
          <a:prstGeom prst="ellipse">
            <a:avLst/>
          </a:prstGeom>
          <a:solidFill>
            <a:srgbClr val="242C63"/>
          </a:solidFill>
        </p:spPr>
      </p:sp>
      <p:sp>
        <p:nvSpPr>
          <p:cNvPr id="5" name="Text 3"/>
          <p:cNvSpPr/>
          <p:nvPr/>
        </p:nvSpPr>
        <p:spPr>
          <a:xfrm>
            <a:off x="822960" y="2148840"/>
            <a:ext cx="9144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0B4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INTRODUCTION TO DWH AND ETL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9601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Retail &amp; Online Sales Data Warehouse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9144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Project Presentation &amp; Technical Interview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Mariam Avaliani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420624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2A3570"/>
          </a:solidFill>
        </p:spPr>
      </p:sp>
      <p:sp>
        <p:nvSpPr>
          <p:cNvPr id="10" name="Text 8"/>
          <p:cNvSpPr/>
          <p:nvPr/>
        </p:nvSpPr>
        <p:spPr>
          <a:xfrm>
            <a:off x="822960" y="4206240"/>
            <a:ext cx="10515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74520" y="4206240"/>
            <a:ext cx="182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&gt;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57400" y="420624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2A3570"/>
          </a:solidFill>
        </p:spPr>
      </p:sp>
      <p:sp>
        <p:nvSpPr>
          <p:cNvPr id="13" name="Text 11"/>
          <p:cNvSpPr/>
          <p:nvPr/>
        </p:nvSpPr>
        <p:spPr>
          <a:xfrm>
            <a:off x="2057400" y="4206240"/>
            <a:ext cx="10515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BL_3NF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08960" y="4206240"/>
            <a:ext cx="182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&gt;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420624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2A3570"/>
          </a:solidFill>
        </p:spPr>
      </p:sp>
      <p:sp>
        <p:nvSpPr>
          <p:cNvPr id="16" name="Text 14"/>
          <p:cNvSpPr/>
          <p:nvPr/>
        </p:nvSpPr>
        <p:spPr>
          <a:xfrm>
            <a:off x="3291840" y="4206240"/>
            <a:ext cx="10515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BL_DM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43400" y="4206240"/>
            <a:ext cx="182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&gt;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26280" y="420624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00B4A6"/>
          </a:solidFill>
        </p:spPr>
      </p:sp>
      <p:sp>
        <p:nvSpPr>
          <p:cNvPr id="19" name="Text 17"/>
          <p:cNvSpPr/>
          <p:nvPr/>
        </p:nvSpPr>
        <p:spPr>
          <a:xfrm>
            <a:off x="4526280" y="4206240"/>
            <a:ext cx="10515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BL_CL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4800600"/>
            <a:ext cx="6400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Staging  -&gt;  3NF Integration  -&gt;  Star Schema  -&gt;  Orchestration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89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Business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Introduction to DWH and ETL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5486400" cy="15544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sell through two channels: a physical store (POS) and an online store — clothing, books and electronics, in several US cities. Each transaction has product, customer, payment and store details.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548640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effectLst>
            <a:outerShdw blurRad="76200" dist="25400" dir="5400000" algn="bl" rotWithShape="0">
              <a:srgbClr val="9AA7C7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246120"/>
            <a:ext cx="4937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657600"/>
            <a:ext cx="4937760" cy="21945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Retail and online data live in separate systems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single report across both channels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Some transaction records are duplicated or inconsistent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Hard to look at trends over time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417320"/>
            <a:ext cx="5257800" cy="4526280"/>
          </a:xfrm>
          <a:prstGeom prst="roundRect">
            <a:avLst>
              <a:gd name="adj" fmla="val 1616"/>
            </a:avLst>
          </a:prstGeom>
          <a:solidFill>
            <a:srgbClr val="1E2761"/>
          </a:solidFill>
        </p:spPr>
      </p:sp>
      <p:sp>
        <p:nvSpPr>
          <p:cNvPr id="10" name="Text 8"/>
          <p:cNvSpPr/>
          <p:nvPr/>
        </p:nvSpPr>
        <p:spPr>
          <a:xfrm>
            <a:off x="6720840" y="1691640"/>
            <a:ext cx="46634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What this gives me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20840" y="2286000"/>
            <a:ext cx="457200" cy="457200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12" name="Text 10"/>
          <p:cNvSpPr/>
          <p:nvPr/>
        </p:nvSpPr>
        <p:spPr>
          <a:xfrm>
            <a:off x="6720840" y="228600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60920" y="2240280"/>
            <a:ext cx="4114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One model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360920" y="2560320"/>
            <a:ext cx="411480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Retail and online data joined into one place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20840" y="3200400"/>
            <a:ext cx="457200" cy="457200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16" name="Text 14"/>
          <p:cNvSpPr/>
          <p:nvPr/>
        </p:nvSpPr>
        <p:spPr>
          <a:xfrm>
            <a:off x="6720840" y="320040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60920" y="3154680"/>
            <a:ext cx="4114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Customer view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360920" y="3474720"/>
            <a:ext cx="411480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can track customer behavior across both channels, over time (SCD2)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20840" y="4114800"/>
            <a:ext cx="457200" cy="457200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20" name="Text 18"/>
          <p:cNvSpPr/>
          <p:nvPr/>
        </p:nvSpPr>
        <p:spPr>
          <a:xfrm>
            <a:off x="6720840" y="411480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60920" y="4069080"/>
            <a:ext cx="4114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Profitability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360920" y="4389120"/>
            <a:ext cx="411480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can compare product and channel performance side by side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20840" y="5029200"/>
            <a:ext cx="457200" cy="457200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24" name="Text 22"/>
          <p:cNvSpPr/>
          <p:nvPr/>
        </p:nvSpPr>
        <p:spPr>
          <a:xfrm>
            <a:off x="6720840" y="502920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360920" y="4983480"/>
            <a:ext cx="4114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Trend analysis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360920" y="5303520"/>
            <a:ext cx="411480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Time, geography and product hierarchies, so I can drill down or roll up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89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Four-Layer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Introduction to DWH and ETL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9AA7C7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194560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1E2761"/>
          </a:solidFill>
        </p:spPr>
      </p:sp>
      <p:sp>
        <p:nvSpPr>
          <p:cNvPr id="7" name="Text 5"/>
          <p:cNvSpPr/>
          <p:nvPr/>
        </p:nvSpPr>
        <p:spPr>
          <a:xfrm>
            <a:off x="777240" y="2194560"/>
            <a:ext cx="20574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880360"/>
            <a:ext cx="2148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sa_retail / sa_online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3291840"/>
            <a:ext cx="2057400" cy="1463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Loaded from CSV via file_fdw foreign tables, duplicate transaction_id removed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063240" y="3200400"/>
            <a:ext cx="3200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89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9AA7C7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11880" y="2194560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1E2761"/>
          </a:solidFill>
        </p:spPr>
      </p:sp>
      <p:sp>
        <p:nvSpPr>
          <p:cNvPr id="13" name="Text 11"/>
          <p:cNvSpPr/>
          <p:nvPr/>
        </p:nvSpPr>
        <p:spPr>
          <a:xfrm>
            <a:off x="3611880" y="2194560"/>
            <a:ext cx="20574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BL_3NF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566160" y="2880360"/>
            <a:ext cx="2148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bl_3nf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11880" y="3291840"/>
            <a:ext cx="2057400" cy="1463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Normalized model, both sources merged. Source triplet + surrogate keys. CE_CUSTOMER = SCD2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97880" y="3200400"/>
            <a:ext cx="3200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89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17920" y="192024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9AA7C7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46520" y="2194560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1E2761"/>
          </a:solidFill>
        </p:spPr>
      </p:sp>
      <p:sp>
        <p:nvSpPr>
          <p:cNvPr id="19" name="Text 17"/>
          <p:cNvSpPr/>
          <p:nvPr/>
        </p:nvSpPr>
        <p:spPr>
          <a:xfrm>
            <a:off x="6446520" y="2194560"/>
            <a:ext cx="20574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BL_DM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0" y="2880360"/>
            <a:ext cx="2148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bl_dm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46520" y="3291840"/>
            <a:ext cx="2057400" cy="1463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Star schema: FCT_TRANSACTIONS_DD (partitioned) + 6 dimensions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32520" y="3200400"/>
            <a:ext cx="3200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89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052560" y="192024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effectLst>
            <a:outerShdw blurRad="76200" dist="25400" dir="5400000" algn="bl" rotWithShape="0">
              <a:srgbClr val="9AA7C7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81160" y="2194560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00B4A6"/>
          </a:solidFill>
        </p:spPr>
      </p:sp>
      <p:sp>
        <p:nvSpPr>
          <p:cNvPr id="25" name="Text 23"/>
          <p:cNvSpPr/>
          <p:nvPr/>
        </p:nvSpPr>
        <p:spPr>
          <a:xfrm>
            <a:off x="9281160" y="2194560"/>
            <a:ext cx="20574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BL_CL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235440" y="2880360"/>
            <a:ext cx="2148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bl_cl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291840"/>
            <a:ext cx="2057400" cy="1463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Load procedures, one wrapper that runs everything, ETL logging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257800"/>
            <a:ext cx="107899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Every load between layers goes through a PL/pgSQL procedure in BL_CL — logged, restartable, and callable on its own or as one pipeline.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89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Business Layer Dimensional Model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Introduction to DWH and ETL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355080" y="2788920"/>
            <a:ext cx="914400" cy="14173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>
            <a:off x="7900035" y="2922270"/>
            <a:ext cx="617855" cy="925195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4206240"/>
            <a:ext cx="256032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69480" y="4206240"/>
            <a:ext cx="1005840" cy="150876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5862955" y="4687570"/>
            <a:ext cx="899160" cy="69977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4206240"/>
            <a:ext cx="256032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37490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effectLst>
            <a:outerShdw blurRad="101600" dist="38100" dir="5400000" algn="bl" rotWithShape="0">
              <a:srgbClr val="9AA7C7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80760" y="3749040"/>
            <a:ext cx="2377440" cy="594360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FCT_TRANSACTIONS_DD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080760" y="4343400"/>
            <a:ext cx="2377440" cy="320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00B4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partitioned by month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96155" y="2400046"/>
            <a:ext cx="196596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25400">
            <a:solidFill>
              <a:srgbClr val="00B4A6"/>
            </a:solidFill>
            <a:prstDash val="solid"/>
          </a:ln>
          <a:effectLst>
            <a:outerShdw blurRad="508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96282" y="2422271"/>
            <a:ext cx="1819656" cy="408188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DIM_CUSTOMERS_SCD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69307" y="2800614"/>
            <a:ext cx="1819656" cy="2501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89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Type 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2340" y="2368296"/>
            <a:ext cx="196596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365492" y="2368296"/>
            <a:ext cx="1819656" cy="408188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DIM_PRODUCTS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365492" y="2776484"/>
            <a:ext cx="1819656" cy="2501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Type 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846820" y="3877056"/>
            <a:ext cx="196596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919972" y="3877056"/>
            <a:ext cx="1819656" cy="408188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DIM_STORES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919972" y="4285244"/>
            <a:ext cx="1819656" cy="2501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Type 1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292340" y="5385816"/>
            <a:ext cx="196596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365492" y="5385816"/>
            <a:ext cx="1819656" cy="408188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DIM_PAYMENTS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65492" y="5794004"/>
            <a:ext cx="1819656" cy="2501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Type 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69180" y="5294376"/>
            <a:ext cx="196596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942332" y="5294376"/>
            <a:ext cx="1819656" cy="408188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DIM_DELIVERIES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942332" y="5702564"/>
            <a:ext cx="1819656" cy="2501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Type 1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726180" y="3877056"/>
            <a:ext cx="196596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508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799332" y="3877056"/>
            <a:ext cx="1819656" cy="408188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DIM_DATES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799332" y="4285244"/>
            <a:ext cx="1819656" cy="2501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Standalone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Grain: one row = one product sold in one transaction, linked to one customer, store, payment, delivery method and date.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89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3NF Design &amp; SCD2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Introduction to DWH and ETL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6" name="Text 4"/>
          <p:cNvSpPr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508760"/>
            <a:ext cx="45262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Source triplet on every table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1828800"/>
            <a:ext cx="452628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source_system, source_entity, source_id — I can always trace a row back to where it came from.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10" name="Text 8"/>
          <p:cNvSpPr/>
          <p:nvPr/>
        </p:nvSpPr>
        <p:spPr>
          <a:xfrm>
            <a:off x="548640" y="260604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2560320"/>
            <a:ext cx="45262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Surrogate + natural keys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34440" y="2880360"/>
            <a:ext cx="452628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Every entity has a surrogate key (SK) generated in the warehouse, plus the natural key(s) from its source.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14" name="Text 12"/>
          <p:cNvSpPr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3611880"/>
            <a:ext cx="45262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Normalized hierarchies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34440" y="3931920"/>
            <a:ext cx="452628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CE_CATEGORY -&gt; CE_SUBCATEGORY -&gt; CE_PRODUCT and CE_COUNTRY -&gt; CE_REGION -&gt; CE_STORE, flattened into one row per dimension in BL_DM.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709160"/>
            <a:ext cx="457200" cy="457200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18" name="Text 16"/>
          <p:cNvSpPr/>
          <p:nvPr/>
        </p:nvSpPr>
        <p:spPr>
          <a:xfrm>
            <a:off x="548640" y="470916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4663440"/>
            <a:ext cx="45262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Defaults instead of NULLs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34440" y="4983480"/>
            <a:ext cx="452628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Every BL_3NF dimension has a -1 / ‘n. a.’ default row, so a LEFT JOIN lookup never drops a row.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1554480"/>
            <a:ext cx="5532120" cy="4389120"/>
          </a:xfrm>
          <a:prstGeom prst="roundRect">
            <a:avLst>
              <a:gd name="adj" fmla="val 1667"/>
            </a:avLst>
          </a:prstGeom>
          <a:solidFill>
            <a:srgbClr val="1E2761"/>
          </a:solidFill>
        </p:spPr>
      </p:sp>
      <p:sp>
        <p:nvSpPr>
          <p:cNvPr id="22" name="Text 20"/>
          <p:cNvSpPr/>
          <p:nvPr/>
        </p:nvSpPr>
        <p:spPr>
          <a:xfrm>
            <a:off x="6400800" y="1783080"/>
            <a:ext cx="5029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SCD Type 2 — CE_CUSTOMER / DIM_CUSTOMERS_SCD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0" y="2240280"/>
            <a:ext cx="5029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Tracked: segment, type, city, loyalty score, age group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2834640"/>
            <a:ext cx="2148840" cy="1371600"/>
          </a:xfrm>
          <a:prstGeom prst="roundRect">
            <a:avLst>
              <a:gd name="adj" fmla="val 4000"/>
            </a:avLst>
          </a:prstGeom>
          <a:solidFill>
            <a:srgbClr val="2A3570"/>
          </a:solidFill>
        </p:spPr>
      </p:sp>
      <p:sp>
        <p:nvSpPr>
          <p:cNvPr id="25" name="Text 23"/>
          <p:cNvSpPr/>
          <p:nvPr/>
        </p:nvSpPr>
        <p:spPr>
          <a:xfrm>
            <a:off x="6537960" y="2926080"/>
            <a:ext cx="18745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AA7C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is_active = 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187452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Segment: Regular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City: Dallas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95360" y="3291840"/>
            <a:ext cx="457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098280" y="2834640"/>
            <a:ext cx="2148840" cy="1371600"/>
          </a:xfrm>
          <a:prstGeom prst="roundRect">
            <a:avLst>
              <a:gd name="adj" fmla="val 4000"/>
            </a:avLst>
          </a:prstGeom>
          <a:solidFill>
            <a:srgbClr val="00B4A6"/>
          </a:solidFill>
        </p:spPr>
      </p:sp>
      <p:sp>
        <p:nvSpPr>
          <p:cNvPr id="29" name="Text 27"/>
          <p:cNvSpPr/>
          <p:nvPr/>
        </p:nvSpPr>
        <p:spPr>
          <a:xfrm>
            <a:off x="9235440" y="2926080"/>
            <a:ext cx="18745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FFF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is_active = 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235440" y="3200400"/>
            <a:ext cx="187452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Segment: Premium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City: Houston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0" y="4434840"/>
            <a:ext cx="5029200" cy="1371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new surrogate key is created every time a tracked attribute changes; the old row is closed (end_dt, is_active=N). The fact table resolves the customer version “as of” the transaction date, so a past sale always points to the attributes that were true at that time.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89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ORCHESTRATION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One Procedure Runs the Whole Pipeline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Introduction to DWH and ETL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109960" cy="640080"/>
          </a:xfrm>
          <a:prstGeom prst="roundRect">
            <a:avLst>
              <a:gd name="adj" fmla="val 11429"/>
            </a:avLst>
          </a:prstGeom>
          <a:solidFill>
            <a:srgbClr val="1E2761"/>
          </a:solidFill>
        </p:spPr>
      </p:sp>
      <p:sp>
        <p:nvSpPr>
          <p:cNvPr id="6" name="Text 4"/>
          <p:cNvSpPr/>
          <p:nvPr/>
        </p:nvSpPr>
        <p:spPr>
          <a:xfrm>
            <a:off x="548640" y="1463040"/>
            <a:ext cx="111099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B4A6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CALL bl_cl.prc_run_all_loads();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63500" dist="25400" dir="5400000" algn="bl" rotWithShape="0">
              <a:srgbClr val="9AA7C7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13232" y="2633472"/>
            <a:ext cx="384048" cy="384048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9" name="Text 7"/>
          <p:cNvSpPr/>
          <p:nvPr/>
        </p:nvSpPr>
        <p:spPr>
          <a:xfrm>
            <a:off x="713232" y="2633472"/>
            <a:ext cx="384048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127248"/>
            <a:ext cx="233172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prc_refresh_bl_3nf()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246888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63500" dist="25400" dir="5400000" algn="bl" rotWithShape="0">
              <a:srgbClr val="9AA7C7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47872" y="2633472"/>
            <a:ext cx="384048" cy="384048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13" name="Text 11"/>
          <p:cNvSpPr/>
          <p:nvPr/>
        </p:nvSpPr>
        <p:spPr>
          <a:xfrm>
            <a:off x="3547872" y="2633472"/>
            <a:ext cx="384048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20440" y="3127248"/>
            <a:ext cx="233172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prc_load_ce_transaction()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46888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63500" dist="25400" dir="5400000" algn="bl" rotWithShape="0">
              <a:srgbClr val="9AA7C7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82512" y="2633472"/>
            <a:ext cx="384048" cy="384048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17" name="Text 15"/>
          <p:cNvSpPr/>
          <p:nvPr/>
        </p:nvSpPr>
        <p:spPr>
          <a:xfrm>
            <a:off x="6382512" y="2633472"/>
            <a:ext cx="384048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3127248"/>
            <a:ext cx="233172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prc_load_dim_products()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52560" y="246888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63500" dist="25400" dir="5400000" algn="bl" rotWithShape="0">
              <a:srgbClr val="9AA7C7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17152" y="2633472"/>
            <a:ext cx="384048" cy="384048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21" name="Text 19"/>
          <p:cNvSpPr/>
          <p:nvPr/>
        </p:nvSpPr>
        <p:spPr>
          <a:xfrm>
            <a:off x="9217152" y="2633472"/>
            <a:ext cx="384048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89720" y="3127248"/>
            <a:ext cx="233172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prc_load_dim_stores()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20624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63500" dist="25400" dir="5400000" algn="bl" rotWithShape="0">
              <a:srgbClr val="9AA7C7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13232" y="4370832"/>
            <a:ext cx="384048" cy="384048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25" name="Text 23"/>
          <p:cNvSpPr/>
          <p:nvPr/>
        </p:nvSpPr>
        <p:spPr>
          <a:xfrm>
            <a:off x="713232" y="4370832"/>
            <a:ext cx="384048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" y="4864608"/>
            <a:ext cx="233172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prc_load_dim_payments_incr()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83280" y="420624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63500" dist="25400" dir="5400000" algn="bl" rotWithShape="0">
              <a:srgbClr val="9AA7C7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547872" y="4370832"/>
            <a:ext cx="384048" cy="384048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29" name="Text 27"/>
          <p:cNvSpPr/>
          <p:nvPr/>
        </p:nvSpPr>
        <p:spPr>
          <a:xfrm>
            <a:off x="3547872" y="4370832"/>
            <a:ext cx="384048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0440" y="4864608"/>
            <a:ext cx="233172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prc_load_dim_deliveries()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420624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63500" dist="25400" dir="5400000" algn="bl" rotWithShape="0">
              <a:srgbClr val="9AA7C7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82512" y="4370832"/>
            <a:ext cx="384048" cy="384048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33" name="Text 31"/>
          <p:cNvSpPr/>
          <p:nvPr/>
        </p:nvSpPr>
        <p:spPr>
          <a:xfrm>
            <a:off x="6382512" y="4370832"/>
            <a:ext cx="384048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355080" y="4864608"/>
            <a:ext cx="233172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prc_load_dim_customers_scd()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052560" y="420624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  <a:effectLst>
            <a:outerShdw blurRad="63500" dist="25400" dir="5400000" algn="bl" rotWithShape="0">
              <a:srgbClr val="9AA7C7">
                <a:alpha val="3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217152" y="4370832"/>
            <a:ext cx="384048" cy="384048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37" name="Text 35"/>
          <p:cNvSpPr/>
          <p:nvPr/>
        </p:nvSpPr>
        <p:spPr>
          <a:xfrm>
            <a:off x="9217152" y="4370832"/>
            <a:ext cx="384048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189720" y="4864608"/>
            <a:ext cx="233172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prc_load_fct_transactions_dd()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Every step is logged and wrapped in an exception block (bl_cl.mta_etl_log). Tested on the real database, through the genuine file-based path: full run in 1m 57s; re-run with nothing new → every step logs 0 rows.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89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COMPLIANCE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11/11 Requirements — Checked on the Real Database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Introduction to DWH and ETL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effectLst>
            <a:outerShdw blurRad="381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563624"/>
            <a:ext cx="365760" cy="36576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7" name="Text 5"/>
          <p:cNvSpPr/>
          <p:nvPr/>
        </p:nvSpPr>
        <p:spPr>
          <a:xfrm>
            <a:off x="658368" y="1563624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532120" y="1581912"/>
            <a:ext cx="329184" cy="329184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9" name="Text 7"/>
          <p:cNvSpPr/>
          <p:nvPr/>
        </p:nvSpPr>
        <p:spPr>
          <a:xfrm>
            <a:off x="5532120" y="1581912"/>
            <a:ext cx="329184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463040"/>
            <a:ext cx="4343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Logging + exception blocks in every procedure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103120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effectLst>
            <a:outerShdw blurRad="381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" y="2203704"/>
            <a:ext cx="365760" cy="36576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13" name="Text 11"/>
          <p:cNvSpPr/>
          <p:nvPr/>
        </p:nvSpPr>
        <p:spPr>
          <a:xfrm>
            <a:off x="658368" y="2203704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532120" y="2221992"/>
            <a:ext cx="329184" cy="329184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15" name="Text 13"/>
          <p:cNvSpPr/>
          <p:nvPr/>
        </p:nvSpPr>
        <p:spPr>
          <a:xfrm>
            <a:off x="5532120" y="2221992"/>
            <a:ext cx="329184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15568" y="2103120"/>
            <a:ext cx="4343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SCD1 + SCD2 dimensions; ≥1 via MERGE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2743200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effectLst>
            <a:outerShdw blurRad="381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2843784"/>
            <a:ext cx="365760" cy="36576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19" name="Text 17"/>
          <p:cNvSpPr/>
          <p:nvPr/>
        </p:nvSpPr>
        <p:spPr>
          <a:xfrm>
            <a:off x="658368" y="2843784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32120" y="2862072"/>
            <a:ext cx="329184" cy="329184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21" name="Text 19"/>
          <p:cNvSpPr/>
          <p:nvPr/>
        </p:nvSpPr>
        <p:spPr>
          <a:xfrm>
            <a:off x="5532120" y="2862072"/>
            <a:ext cx="329184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15568" y="2743200"/>
            <a:ext cx="4343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Restartability for each procedure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383280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effectLst>
            <a:outerShdw blurRad="381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8368" y="3483864"/>
            <a:ext cx="365760" cy="36576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25" name="Text 23"/>
          <p:cNvSpPr/>
          <p:nvPr/>
        </p:nvSpPr>
        <p:spPr>
          <a:xfrm>
            <a:off x="658368" y="3483864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532120" y="3502152"/>
            <a:ext cx="329184" cy="329184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27" name="Text 25"/>
          <p:cNvSpPr/>
          <p:nvPr/>
        </p:nvSpPr>
        <p:spPr>
          <a:xfrm>
            <a:off x="5532120" y="3502152"/>
            <a:ext cx="329184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15568" y="3383280"/>
            <a:ext cx="4343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Fact table loaded via partitioning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023360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effectLst>
            <a:outerShdw blurRad="381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8368" y="4123944"/>
            <a:ext cx="365760" cy="36576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1" name="Text 29"/>
          <p:cNvSpPr/>
          <p:nvPr/>
        </p:nvSpPr>
        <p:spPr>
          <a:xfrm>
            <a:off x="658368" y="4123944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532120" y="4142232"/>
            <a:ext cx="329184" cy="329184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33" name="Text 31"/>
          <p:cNvSpPr/>
          <p:nvPr/>
        </p:nvSpPr>
        <p:spPr>
          <a:xfrm>
            <a:off x="5532120" y="4142232"/>
            <a:ext cx="329184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5568" y="4023360"/>
            <a:ext cx="4343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Source triplet on BL_3NF / BL_DM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" y="4663440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effectLst>
            <a:outerShdw blurRad="381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58368" y="4764024"/>
            <a:ext cx="365760" cy="36576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7" name="Text 35"/>
          <p:cNvSpPr/>
          <p:nvPr/>
        </p:nvSpPr>
        <p:spPr>
          <a:xfrm>
            <a:off x="658368" y="4764024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532120" y="4782312"/>
            <a:ext cx="329184" cy="329184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39" name="Text 37"/>
          <p:cNvSpPr/>
          <p:nvPr/>
        </p:nvSpPr>
        <p:spPr>
          <a:xfrm>
            <a:off x="5532120" y="4782312"/>
            <a:ext cx="329184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115568" y="4663440"/>
            <a:ext cx="4343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Constraints — PK mandatory, FK optional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17920" y="1463040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effectLst>
            <a:outerShdw blurRad="381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327648" y="1563624"/>
            <a:ext cx="365760" cy="36576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43" name="Text 41"/>
          <p:cNvSpPr/>
          <p:nvPr/>
        </p:nvSpPr>
        <p:spPr>
          <a:xfrm>
            <a:off x="6327648" y="1563624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1201400" y="1581912"/>
            <a:ext cx="329184" cy="329184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45" name="Text 43"/>
          <p:cNvSpPr/>
          <p:nvPr/>
        </p:nvSpPr>
        <p:spPr>
          <a:xfrm>
            <a:off x="11201400" y="1581912"/>
            <a:ext cx="329184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6784848" y="1463040"/>
            <a:ext cx="4343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LEFT JOIN + default values, not NULL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17920" y="2103120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effectLst>
            <a:outerShdw blurRad="381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327648" y="2203704"/>
            <a:ext cx="365760" cy="36576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49" name="Text 47"/>
          <p:cNvSpPr/>
          <p:nvPr/>
        </p:nvSpPr>
        <p:spPr>
          <a:xfrm>
            <a:off x="6327648" y="2203704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1201400" y="2221992"/>
            <a:ext cx="329184" cy="329184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51" name="Text 49"/>
          <p:cNvSpPr/>
          <p:nvPr/>
        </p:nvSpPr>
        <p:spPr>
          <a:xfrm>
            <a:off x="11201400" y="2221992"/>
            <a:ext cx="329184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6784848" y="2103120"/>
            <a:ext cx="4343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Incremental load for ≥1 table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17920" y="2743200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effectLst>
            <a:outerShdw blurRad="381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327648" y="2843784"/>
            <a:ext cx="365760" cy="36576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55" name="Text 53"/>
          <p:cNvSpPr/>
          <p:nvPr/>
        </p:nvSpPr>
        <p:spPr>
          <a:xfrm>
            <a:off x="6327648" y="2843784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11201400" y="2862072"/>
            <a:ext cx="329184" cy="329184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57" name="Text 55"/>
          <p:cNvSpPr/>
          <p:nvPr/>
        </p:nvSpPr>
        <p:spPr>
          <a:xfrm>
            <a:off x="11201400" y="2862072"/>
            <a:ext cx="329184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6784848" y="2743200"/>
            <a:ext cx="4343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Data-quality tests: no dupes + SA→BL coverage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17920" y="3383280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effectLst>
            <a:outerShdw blurRad="381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327648" y="3483864"/>
            <a:ext cx="365760" cy="36576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61" name="Text 59"/>
          <p:cNvSpPr/>
          <p:nvPr/>
        </p:nvSpPr>
        <p:spPr>
          <a:xfrm>
            <a:off x="6327648" y="3483864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11201400" y="3502152"/>
            <a:ext cx="329184" cy="329184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63" name="Text 61"/>
          <p:cNvSpPr/>
          <p:nvPr/>
        </p:nvSpPr>
        <p:spPr>
          <a:xfrm>
            <a:off x="11201400" y="3502152"/>
            <a:ext cx="329184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500" dirty="0"/>
          </a:p>
        </p:txBody>
      </p:sp>
      <p:sp>
        <p:nvSpPr>
          <p:cNvPr id="64" name="Text 62"/>
          <p:cNvSpPr/>
          <p:nvPr/>
        </p:nvSpPr>
        <p:spPr>
          <a:xfrm>
            <a:off x="6784848" y="3383280"/>
            <a:ext cx="4343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Cursors + Execute Immediate present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6217920" y="4023360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effectLst>
            <a:outerShdw blurRad="38100" dist="12700" dir="5400000" algn="bl" rotWithShape="0">
              <a:srgbClr val="9AA7C7">
                <a:alpha val="25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6327648" y="4123944"/>
            <a:ext cx="365760" cy="36576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67" name="Text 65"/>
          <p:cNvSpPr/>
          <p:nvPr/>
        </p:nvSpPr>
        <p:spPr>
          <a:xfrm>
            <a:off x="6327648" y="4123944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11201400" y="4142232"/>
            <a:ext cx="329184" cy="329184"/>
          </a:xfrm>
          <a:prstGeom prst="ellipse">
            <a:avLst/>
          </a:prstGeom>
          <a:solidFill>
            <a:srgbClr val="00B4A6"/>
          </a:solidFill>
        </p:spPr>
      </p:sp>
      <p:sp>
        <p:nvSpPr>
          <p:cNvPr id="69" name="Text 67"/>
          <p:cNvSpPr/>
          <p:nvPr/>
        </p:nvSpPr>
        <p:spPr>
          <a:xfrm>
            <a:off x="11201400" y="4142232"/>
            <a:ext cx="329184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500" dirty="0"/>
          </a:p>
        </p:txBody>
      </p:sp>
      <p:sp>
        <p:nvSpPr>
          <p:cNvPr id="70" name="Text 68"/>
          <p:cNvSpPr/>
          <p:nvPr/>
        </p:nvSpPr>
        <p:spPr>
          <a:xfrm>
            <a:off x="6784848" y="4023360"/>
            <a:ext cx="4343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Single procedure runs the full pipeline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89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REQUIREMENT #9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Data-Quality Test Suite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Introduction to DWH and ETL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40680" cy="4709160"/>
          </a:xfrm>
          <a:prstGeom prst="roundRect">
            <a:avLst>
              <a:gd name="adj" fmla="val 1553"/>
            </a:avLst>
          </a:prstGeom>
          <a:solidFill>
            <a:srgbClr val="1E2761"/>
          </a:solidFill>
        </p:spPr>
      </p:sp>
      <p:sp>
        <p:nvSpPr>
          <p:cNvPr id="6" name="Text 4"/>
          <p:cNvSpPr/>
          <p:nvPr/>
        </p:nvSpPr>
        <p:spPr>
          <a:xfrm>
            <a:off x="868680" y="1737360"/>
            <a:ext cx="4800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Test Group 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194560"/>
            <a:ext cx="480060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duplicates in the target table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480060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bl_3nf.ce_transaction — unique transaction_id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bl_dm.fct_transactions_dd — unique (transaction_src_id, event_dt)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All 5 BL_DM dimensions — unique *_src_id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dim_customers_scd — ≤1 active version per customer, no overlapping date ranges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68680" y="5577840"/>
            <a:ext cx="4800600" cy="411480"/>
          </a:xfrm>
          <a:prstGeom prst="roundRect">
            <a:avLst>
              <a:gd name="adj" fmla="val 66667"/>
            </a:avLst>
          </a:prstGeom>
          <a:solidFill>
            <a:srgbClr val="00B4A6"/>
          </a:solidFill>
        </p:spPr>
      </p:sp>
      <p:sp>
        <p:nvSpPr>
          <p:cNvPr id="10" name="Text 8"/>
          <p:cNvSpPr/>
          <p:nvPr/>
        </p:nvSpPr>
        <p:spPr>
          <a:xfrm>
            <a:off x="868680" y="5577840"/>
            <a:ext cx="4800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All queries: 0 rows on the real database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44068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737360"/>
            <a:ext cx="4800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Test Group 2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37960" y="2194560"/>
            <a:ext cx="480060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Every SA record represented in the business layer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37960" y="2880360"/>
            <a:ext cx="480060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transaction_id → ce_transaction &amp; fct_transactions_dd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product_id → dim_products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store_id → dim_stores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transaction_id (as payment_id) → dim_payments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transaction_id, online only (as delivery_id) → dim_deliveries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customer_id → active dim_customers_scd row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37960" y="5577840"/>
            <a:ext cx="4800600" cy="411480"/>
          </a:xfrm>
          <a:prstGeom prst="roundRect">
            <a:avLst>
              <a:gd name="adj" fmla="val 66667"/>
            </a:avLst>
          </a:prstGeom>
          <a:solidFill>
            <a:srgbClr val="00B4A6"/>
          </a:solidFill>
        </p:spPr>
      </p:sp>
      <p:sp>
        <p:nvSpPr>
          <p:cNvPr id="16" name="Text 14"/>
          <p:cNvSpPr/>
          <p:nvPr/>
        </p:nvSpPr>
        <p:spPr>
          <a:xfrm>
            <a:off x="6537960" y="5577840"/>
            <a:ext cx="4800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All queries: 0 rows on the real database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89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REQUIREMENT: 95% / 5% SPLIT, FROM A REAL 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Live Incremental-Load Demo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Introduction to DWH and ETL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64240" cy="777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My real source files were already fully loaded (500,000 retail + 500,000 online rows), so I generated a new batch and appended it straight into the two CSV files — same file, same path — so the increment genuinely comes from a file.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effectLst>
            <a:outerShdw blurRad="76200" dist="25400" dir="5400000" algn="bl" rotWithShape="0">
              <a:srgbClr val="9AA7C7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2468880"/>
            <a:ext cx="3520440" cy="960120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1,000,000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85800" y="3429000"/>
            <a:ext cx="324612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rows already loaded (95%)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233172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effectLst>
            <a:outerShdw blurRad="76200" dist="25400" dir="5400000" algn="bl" rotWithShape="0">
              <a:srgbClr val="9AA7C7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2468880"/>
            <a:ext cx="3520440" cy="960120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897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52,632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389120" y="3429000"/>
            <a:ext cx="324612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new rows appended to file (5%)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233172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effectLst>
            <a:outerShdw blurRad="76200" dist="25400" dir="5400000" algn="bl" rotWithShape="0">
              <a:srgbClr val="9AA7C7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955280" y="2468880"/>
            <a:ext cx="3520440" cy="960120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26,316 / 26,316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092440" y="3429000"/>
            <a:ext cx="324612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retail / online split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10927080" cy="1737360"/>
          </a:xfrm>
          <a:prstGeom prst="roundRect">
            <a:avLst>
              <a:gd name="adj" fmla="val 4211"/>
            </a:avLst>
          </a:prstGeom>
          <a:solidFill>
            <a:srgbClr val="1E2761"/>
          </a:solidFill>
        </p:spPr>
      </p:sp>
      <p:sp>
        <p:nvSpPr>
          <p:cNvPr id="16" name="Text 14"/>
          <p:cNvSpPr/>
          <p:nvPr/>
        </p:nvSpPr>
        <p:spPr>
          <a:xfrm>
            <a:off x="868680" y="4389120"/>
            <a:ext cx="10058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Method: “resample, don’t invent”, appended to the real CSV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4800600"/>
            <a:ext cx="10332720" cy="10515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Each new row is a copy of a randomly picked REAL existing row (so the customer/product/store/payment combination is always valid), with a brand-new TransactionID and appended to the end of retail_500k.csv / online_500k.csv. The foreign tables are untouched — same destination, same filename. Loading it: INSERT only new ids into staging (WHERE NOT EXISTS), then set the date to bl_dm.fct_transactions_dd’s own MAX(event_dt), then run the pipeline.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B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B4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TESTED ON THE REAL DATABASE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05840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Results at Full Scale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242C63"/>
          </a:solidFill>
        </p:spPr>
      </p:sp>
      <p:sp>
        <p:nvSpPr>
          <p:cNvPr id="5" name="Text 3"/>
          <p:cNvSpPr/>
          <p:nvPr/>
        </p:nvSpPr>
        <p:spPr>
          <a:xfrm>
            <a:off x="548640" y="2057400"/>
            <a:ext cx="2606040" cy="1325880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A6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52,632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3383280"/>
            <a:ext cx="233172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rows loaded end to end, from a real CSV file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92024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242C63"/>
          </a:solidFill>
        </p:spPr>
      </p:sp>
      <p:sp>
        <p:nvSpPr>
          <p:cNvPr id="8" name="Text 6"/>
          <p:cNvSpPr/>
          <p:nvPr/>
        </p:nvSpPr>
        <p:spPr>
          <a:xfrm>
            <a:off x="3429000" y="2057400"/>
            <a:ext cx="2606040" cy="1325880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A6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1m 57s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3383280"/>
            <a:ext cx="233172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pipeline runtime, this exact file-based batch (under the 5 min limit)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192024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242C63"/>
          </a:solidFill>
        </p:spPr>
      </p:sp>
      <p:sp>
        <p:nvSpPr>
          <p:cNvPr id="11" name="Text 9"/>
          <p:cNvSpPr/>
          <p:nvPr/>
        </p:nvSpPr>
        <p:spPr>
          <a:xfrm>
            <a:off x="6309360" y="2057400"/>
            <a:ext cx="2606040" cy="1325880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A6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46520" y="3383280"/>
            <a:ext cx="233172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duplicates found (Test group 1)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89720" y="192024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242C63"/>
          </a:solidFill>
        </p:spPr>
      </p:sp>
      <p:sp>
        <p:nvSpPr>
          <p:cNvPr id="14" name="Text 12"/>
          <p:cNvSpPr/>
          <p:nvPr/>
        </p:nvSpPr>
        <p:spPr>
          <a:xfrm>
            <a:off x="9189720" y="2057400"/>
            <a:ext cx="2606040" cy="1325880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A6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326880" y="3383280"/>
            <a:ext cx="233172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rows re-loaded on restart (Test group 3)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10515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 of the batch reached bl_dm.fct_transactions_dd — nothing excluded by the rolling-window cutoff. Running the pipeline again with nothing new staged logged rows_affected = 0 for all 9 procedures.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029200"/>
            <a:ext cx="10927080" cy="1280160"/>
          </a:xfrm>
          <a:prstGeom prst="roundRect">
            <a:avLst>
              <a:gd name="adj" fmla="val 5714"/>
            </a:avLst>
          </a:prstGeom>
          <a:solidFill>
            <a:srgbClr val="242C63"/>
          </a:solidFill>
        </p:spPr>
      </p:sp>
      <p:sp>
        <p:nvSpPr>
          <p:cNvPr id="18" name="Text 16"/>
          <p:cNvSpPr/>
          <p:nvPr/>
        </p:nvSpPr>
        <p:spPr>
          <a:xfrm>
            <a:off x="868680" y="5193792"/>
            <a:ext cx="103327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dim_customers_scd — a real, named SCD2 test case: customer 1464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5532120"/>
            <a:ext cx="1033272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Segment, city, loyalty score and age group all differ between customer 1464’s current row and their resampled transaction — SCD2 closes the old version and opens a new one, shown before/after in Presentation_Demo_Package.sql.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89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DISCUSSION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Design Decisions and Mentor Feedback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Introduction to DWH and ETL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1099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25400">
            <a:solidFill>
              <a:srgbClr val="00B4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9144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CADCF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“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371600" y="1600200"/>
            <a:ext cx="996696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SCD2 logic works well for incremental loads, but it is not designed to reconstruct all historical versions from a full backfill. This is acceptable for the current scope and can be left as is.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514600"/>
            <a:ext cx="7315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— Mentor feedback, Task 7 / Task 9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7FC"/>
          </a:solidFill>
          <a:ln w="1524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566160"/>
            <a:ext cx="306324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Rolling window anchor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4114800"/>
            <a:ext cx="3063240" cy="1874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Anchored on the latest month in my own data (GREATEST across BL_3NF and BL_DM), not CURRENT_DATE — my source is a fixed historical dataset, not a live daily feed.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333756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7FC"/>
          </a:solidFill>
          <a:ln w="1524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3566160"/>
            <a:ext cx="306324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Detached partitions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26280" y="4114800"/>
            <a:ext cx="3063240" cy="1874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DETACH, never DROP — a rolled-out month stays a normal, queryable table. Full history also always stays on the un-partitioned BL_3NF layer.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6720" y="333756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7FC"/>
          </a:solidFill>
          <a:ln w="1524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3566160"/>
            <a:ext cx="306324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Demo batch quality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75320" y="4114800"/>
            <a:ext cx="3063240" cy="1874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resample real rows instead of inventing data, so every generated row is a valid, realistic combination.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B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" name="Text 1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474720"/>
            <a:ext cx="9144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Questions and live demo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29768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2A3570"/>
          </a:solidFill>
        </p:spPr>
      </p:sp>
      <p:sp>
        <p:nvSpPr>
          <p:cNvPr id="6" name="Text 4"/>
          <p:cNvSpPr/>
          <p:nvPr/>
        </p:nvSpPr>
        <p:spPr>
          <a:xfrm>
            <a:off x="822960" y="4297680"/>
            <a:ext cx="10515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74520" y="4297680"/>
            <a:ext cx="182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&gt;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057400" y="429768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2A3570"/>
          </a:solidFill>
        </p:spPr>
      </p:sp>
      <p:sp>
        <p:nvSpPr>
          <p:cNvPr id="9" name="Text 7"/>
          <p:cNvSpPr/>
          <p:nvPr/>
        </p:nvSpPr>
        <p:spPr>
          <a:xfrm>
            <a:off x="2057400" y="4297680"/>
            <a:ext cx="10515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BL_3NF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08960" y="4297680"/>
            <a:ext cx="182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&gt;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91840" y="429768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2A3570"/>
          </a:solidFill>
        </p:spPr>
      </p:sp>
      <p:sp>
        <p:nvSpPr>
          <p:cNvPr id="12" name="Text 10"/>
          <p:cNvSpPr/>
          <p:nvPr/>
        </p:nvSpPr>
        <p:spPr>
          <a:xfrm>
            <a:off x="3291840" y="4297680"/>
            <a:ext cx="10515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BL_DM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43400" y="4297680"/>
            <a:ext cx="182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&gt;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26280" y="429768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00B4A6"/>
          </a:solidFill>
        </p:spPr>
      </p:sp>
      <p:sp>
        <p:nvSpPr>
          <p:cNvPr id="15" name="Text 13"/>
          <p:cNvSpPr/>
          <p:nvPr/>
        </p:nvSpPr>
        <p:spPr>
          <a:xfrm>
            <a:off x="4526280" y="4297680"/>
            <a:ext cx="10515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BL_CL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6309360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Mariam Avaliani  |  Introduction to DWH and ETL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7164</Words>
  <Application>WPS Presentation</Application>
  <PresentationFormat>On-screen Show (16:9)</PresentationFormat>
  <Paragraphs>425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7" baseType="lpstr">
      <vt:lpstr>Arial</vt:lpstr>
      <vt:lpstr>SimSun</vt:lpstr>
      <vt:lpstr>Wingdings</vt:lpstr>
      <vt:lpstr>Calibri</vt:lpstr>
      <vt:lpstr>Calibri</vt:lpstr>
      <vt:lpstr>Calibri</vt:lpstr>
      <vt:lpstr>Cambria</vt:lpstr>
      <vt:lpstr>Cambria</vt:lpstr>
      <vt:lpstr>Cambria</vt:lpstr>
      <vt:lpstr>Courier New</vt:lpstr>
      <vt:lpstr>Courier New</vt:lpstr>
      <vt:lpstr>Courier New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DWH and ETL</dc:title>
  <dc:creator>Mariam Avaliani</dc:creator>
  <dc:subject>PptxGenJS Presentation</dc:subject>
  <cp:lastModifiedBy>mariam avaliani</cp:lastModifiedBy>
  <cp:revision>2</cp:revision>
  <dcterms:created xsi:type="dcterms:W3CDTF">2026-07-26T16:19:00Z</dcterms:created>
  <dcterms:modified xsi:type="dcterms:W3CDTF">2026-07-26T16:27:25Z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1033-12.1.0.27458</vt:lpwstr>
  </property>
  <property fmtid="{D5CDD505-2E9C-101B-9397-08002B2CF9AE}" pid="3" name="ICV">
    <vt:lpwstr>A96615D11AF1419AB2E84FF3EA883EAD_12</vt:lpwstr>
  </property>
</Properties>
</file>