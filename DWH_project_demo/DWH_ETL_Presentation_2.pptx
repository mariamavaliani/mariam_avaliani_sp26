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8" r:id="rId15"/>
    <p:sldId id="267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9"/>
          </a:solidFill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" name="Shape 2"/>
          <p:cNvSpPr/>
          <p:nvPr/>
        </p:nvSpPr>
        <p:spPr>
          <a:xfrm>
            <a:off x="10607040" y="3840480"/>
            <a:ext cx="2926080" cy="2926080"/>
          </a:xfrm>
          <a:prstGeom prst="ellipse">
            <a:avLst/>
          </a:prstGeom>
          <a:solidFill>
            <a:srgbClr val="242C63"/>
          </a:solidFill>
        </p:spPr>
      </p:sp>
      <p:sp>
        <p:nvSpPr>
          <p:cNvPr id="5" name="Text 3"/>
          <p:cNvSpPr/>
          <p:nvPr/>
        </p:nvSpPr>
        <p:spPr>
          <a:xfrm>
            <a:off x="822960" y="214884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B4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 TO DWH AND ETL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9601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Retail &amp; Online Sales Data Warehouse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9144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Presentation &amp; Technical Interview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Mariam Avaliani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206240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2A3570"/>
          </a:solidFill>
        </p:spPr>
      </p:sp>
      <p:sp>
        <p:nvSpPr>
          <p:cNvPr id="10" name="Text 8"/>
          <p:cNvSpPr/>
          <p:nvPr/>
        </p:nvSpPr>
        <p:spPr>
          <a:xfrm>
            <a:off x="822960" y="4206240"/>
            <a:ext cx="1051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74520" y="4206240"/>
            <a:ext cx="18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&gt;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057400" y="4206240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2A3570"/>
          </a:solidFill>
        </p:spPr>
      </p:sp>
      <p:sp>
        <p:nvSpPr>
          <p:cNvPr id="13" name="Text 11"/>
          <p:cNvSpPr/>
          <p:nvPr/>
        </p:nvSpPr>
        <p:spPr>
          <a:xfrm>
            <a:off x="2057400" y="4206240"/>
            <a:ext cx="1051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BL_3NF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08960" y="4206240"/>
            <a:ext cx="18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&gt;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91840" y="4206240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2A3570"/>
          </a:solidFill>
        </p:spPr>
      </p:sp>
      <p:sp>
        <p:nvSpPr>
          <p:cNvPr id="16" name="Text 14"/>
          <p:cNvSpPr/>
          <p:nvPr/>
        </p:nvSpPr>
        <p:spPr>
          <a:xfrm>
            <a:off x="3291840" y="4206240"/>
            <a:ext cx="1051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BL_DM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43400" y="4206240"/>
            <a:ext cx="18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&gt;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26280" y="4206240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00B4A6"/>
          </a:solidFill>
        </p:spPr>
      </p:sp>
      <p:sp>
        <p:nvSpPr>
          <p:cNvPr id="19" name="Text 17"/>
          <p:cNvSpPr/>
          <p:nvPr/>
        </p:nvSpPr>
        <p:spPr>
          <a:xfrm>
            <a:off x="4526280" y="4206240"/>
            <a:ext cx="1051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BL_CL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4800600"/>
            <a:ext cx="6400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Staging  -&gt;  3NF Integration  -&gt;  Star Schema  -&gt;  Orchestration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9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Business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 to DWH and ETL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486400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sell through two channels: a physical store (POS) and an online store — clothing, books and electronics, in several US cities. Each transaction has product, customer, payment and store details.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548640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AA7C7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324612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4937760" cy="2194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Retail and online data live in separate systems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single report across both channels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Some transaction records are duplicated or inconsistent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 to look at trends over time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41732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1E2761"/>
          </a:solidFill>
        </p:spPr>
      </p:sp>
      <p:sp>
        <p:nvSpPr>
          <p:cNvPr id="10" name="Text 8"/>
          <p:cNvSpPr/>
          <p:nvPr/>
        </p:nvSpPr>
        <p:spPr>
          <a:xfrm>
            <a:off x="6720840" y="1691640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this gives me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720840" y="2286000"/>
            <a:ext cx="457200" cy="457200"/>
          </a:xfrm>
          <a:prstGeom prst="ellipse">
            <a:avLst/>
          </a:prstGeom>
          <a:solidFill>
            <a:srgbClr val="00B4A6"/>
          </a:solidFill>
        </p:spPr>
      </p:sp>
      <p:sp>
        <p:nvSpPr>
          <p:cNvPr id="12" name="Text 10"/>
          <p:cNvSpPr/>
          <p:nvPr/>
        </p:nvSpPr>
        <p:spPr>
          <a:xfrm>
            <a:off x="6720840" y="22860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60920" y="224028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model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360920" y="2560320"/>
            <a:ext cx="4114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Retail and online data joined into one place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20840" y="3200400"/>
            <a:ext cx="457200" cy="457200"/>
          </a:xfrm>
          <a:prstGeom prst="ellipse">
            <a:avLst/>
          </a:prstGeom>
          <a:solidFill>
            <a:srgbClr val="00B4A6"/>
          </a:solidFill>
        </p:spPr>
      </p:sp>
      <p:sp>
        <p:nvSpPr>
          <p:cNvPr id="16" name="Text 14"/>
          <p:cNvSpPr/>
          <p:nvPr/>
        </p:nvSpPr>
        <p:spPr>
          <a:xfrm>
            <a:off x="6720840" y="32004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60920" y="315468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view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360920" y="3474720"/>
            <a:ext cx="4114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can track customer behavior across both channels, over time (SCD2)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20840" y="4114800"/>
            <a:ext cx="457200" cy="457200"/>
          </a:xfrm>
          <a:prstGeom prst="ellipse">
            <a:avLst/>
          </a:prstGeom>
          <a:solidFill>
            <a:srgbClr val="00B4A6"/>
          </a:solidFill>
        </p:spPr>
      </p:sp>
      <p:sp>
        <p:nvSpPr>
          <p:cNvPr id="20" name="Text 18"/>
          <p:cNvSpPr/>
          <p:nvPr/>
        </p:nvSpPr>
        <p:spPr>
          <a:xfrm>
            <a:off x="6720840" y="41148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60920" y="406908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Profitability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360920" y="4389120"/>
            <a:ext cx="4114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can compare product and channel performance side by side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20840" y="5029200"/>
            <a:ext cx="457200" cy="457200"/>
          </a:xfrm>
          <a:prstGeom prst="ellipse">
            <a:avLst/>
          </a:prstGeom>
          <a:solidFill>
            <a:srgbClr val="00B4A6"/>
          </a:solidFill>
        </p:spPr>
      </p:sp>
      <p:sp>
        <p:nvSpPr>
          <p:cNvPr id="24" name="Text 22"/>
          <p:cNvSpPr/>
          <p:nvPr/>
        </p:nvSpPr>
        <p:spPr>
          <a:xfrm>
            <a:off x="6720840" y="50292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60920" y="498348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Trend analysis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360920" y="5303520"/>
            <a:ext cx="4114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Time, geography and product hierarchies, so I can drill down or roll up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9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Four-Layer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 to DWH and ETL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9AA7C7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94560"/>
            <a:ext cx="205740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</p:spPr>
      </p:sp>
      <p:sp>
        <p:nvSpPr>
          <p:cNvPr id="7" name="Text 5"/>
          <p:cNvSpPr/>
          <p:nvPr/>
        </p:nvSpPr>
        <p:spPr>
          <a:xfrm>
            <a:off x="777240" y="2194560"/>
            <a:ext cx="2057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2148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sa_retail / sa_online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291840"/>
            <a:ext cx="205740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Loaded from CSV via file_fdw foreign tables, duplicate transaction_id removed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63240" y="3200400"/>
            <a:ext cx="320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89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83280" y="192024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9AA7C7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11880" y="2194560"/>
            <a:ext cx="205740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</p:spPr>
      </p:sp>
      <p:sp>
        <p:nvSpPr>
          <p:cNvPr id="13" name="Text 11"/>
          <p:cNvSpPr/>
          <p:nvPr/>
        </p:nvSpPr>
        <p:spPr>
          <a:xfrm>
            <a:off x="3611880" y="2194560"/>
            <a:ext cx="2057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BL_3NF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66160" y="2880360"/>
            <a:ext cx="2148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bl_3nf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11880" y="3291840"/>
            <a:ext cx="205740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Normalized model, both sources merged. Source triplet + surrogate keys. CE_CUSTOMER = SCD2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97880" y="3200400"/>
            <a:ext cx="320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89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7920" y="192024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9AA7C7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46520" y="2194560"/>
            <a:ext cx="205740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</p:spPr>
      </p:sp>
      <p:sp>
        <p:nvSpPr>
          <p:cNvPr id="19" name="Text 17"/>
          <p:cNvSpPr/>
          <p:nvPr/>
        </p:nvSpPr>
        <p:spPr>
          <a:xfrm>
            <a:off x="6446520" y="2194560"/>
            <a:ext cx="2057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BL_DM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0800" y="2880360"/>
            <a:ext cx="2148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bl_dm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3291840"/>
            <a:ext cx="205740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 schema: FCT_TRANSACTIONS_DD (partitioned) + 6 dimensions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732520" y="3200400"/>
            <a:ext cx="320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89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052560" y="192024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effectLst>
            <a:outerShdw blurRad="76200" dist="25400" dir="5400000" algn="bl" rotWithShape="0">
              <a:srgbClr val="9AA7C7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81160" y="2194560"/>
            <a:ext cx="2057400" cy="502920"/>
          </a:xfrm>
          <a:prstGeom prst="roundRect">
            <a:avLst>
              <a:gd name="adj" fmla="val 10909"/>
            </a:avLst>
          </a:prstGeom>
          <a:solidFill>
            <a:srgbClr val="00B4A6"/>
          </a:solidFill>
        </p:spPr>
      </p:sp>
      <p:sp>
        <p:nvSpPr>
          <p:cNvPr id="25" name="Text 23"/>
          <p:cNvSpPr/>
          <p:nvPr/>
        </p:nvSpPr>
        <p:spPr>
          <a:xfrm>
            <a:off x="9281160" y="2194560"/>
            <a:ext cx="2057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BL_CL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235440" y="2880360"/>
            <a:ext cx="2148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bl_cl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281160" y="3291840"/>
            <a:ext cx="205740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 procedures, one wrapper that runs everything, ETL logging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5257800"/>
            <a:ext cx="10789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load between layers goes through a PL/pgSQL procedure in BL_CL — logged, restartable, and callable on its own or as one pipeline.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9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Business Layer Dimensional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 to DWH and ETL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355080" y="2788920"/>
            <a:ext cx="914400" cy="141732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7694295" y="2776220"/>
            <a:ext cx="734695" cy="131826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69480" y="4206240"/>
            <a:ext cx="256032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69480" y="4206240"/>
            <a:ext cx="1005840" cy="150876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6162675" y="4521200"/>
            <a:ext cx="443865" cy="103632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4206240"/>
            <a:ext cx="256032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0760" y="37490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effectLst>
            <a:outerShdw blurRad="101600" dist="38100" dir="5400000" algn="bl" rotWithShape="0">
              <a:srgbClr val="9AA7C7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80760" y="3749040"/>
            <a:ext cx="2377440" cy="59436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FCT_TRANSACTIONS_DD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80760" y="4343400"/>
            <a:ext cx="2377440" cy="320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0B4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partitioned by month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69180" y="2459101"/>
            <a:ext cx="19659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25400">
            <a:solidFill>
              <a:srgbClr val="00B4A6"/>
            </a:solidFill>
            <a:prstDash val="solid"/>
          </a:ln>
          <a:effectLst>
            <a:outerShdw blurRad="50800" dist="12700" dir="5400000" algn="bl" rotWithShape="0">
              <a:srgbClr val="9AA7C7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78197" y="2459101"/>
            <a:ext cx="1819656" cy="408188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DIM_CUSTOMERS_SCD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15357" y="2842524"/>
            <a:ext cx="1819656" cy="2501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9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 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92340" y="2378456"/>
            <a:ext cx="19659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12700" dir="5400000" algn="bl" rotWithShape="0">
              <a:srgbClr val="9AA7C7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65492" y="2368296"/>
            <a:ext cx="1819656" cy="408188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DIM_PRODUCTS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65492" y="2776484"/>
            <a:ext cx="1819656" cy="2501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 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846820" y="3877056"/>
            <a:ext cx="19659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12700" dir="5400000" algn="bl" rotWithShape="0">
              <a:srgbClr val="9AA7C7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919972" y="3877056"/>
            <a:ext cx="1819656" cy="408188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DIM_STORES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919972" y="4285244"/>
            <a:ext cx="1819656" cy="2501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 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292340" y="5385816"/>
            <a:ext cx="19659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12700" dir="5400000" algn="bl" rotWithShape="0">
              <a:srgbClr val="9AA7C7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65492" y="5385816"/>
            <a:ext cx="1819656" cy="408188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DIM_PAYMENTS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365492" y="5794004"/>
            <a:ext cx="1819656" cy="2501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 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69180" y="5294376"/>
            <a:ext cx="19659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12700" dir="5400000" algn="bl" rotWithShape="0">
              <a:srgbClr val="9AA7C7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42332" y="5294376"/>
            <a:ext cx="1819656" cy="408188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DIM_DELIVERIES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42332" y="5702564"/>
            <a:ext cx="1819656" cy="2501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 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726180" y="3877056"/>
            <a:ext cx="19659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50800" dist="12700" dir="5400000" algn="bl" rotWithShape="0">
              <a:srgbClr val="9AA7C7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799332" y="3877056"/>
            <a:ext cx="1819656" cy="408188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DIM_DATES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799332" y="4285244"/>
            <a:ext cx="1819656" cy="2501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Standalone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Grain: one row = one product sold in one transaction, linked to one customer, store, payment, delivery method and date.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9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3NF Design &amp; SCD2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 to DWH and ETL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00B4A6"/>
          </a:solidFill>
        </p:spPr>
      </p:sp>
      <p:sp>
        <p:nvSpPr>
          <p:cNvPr id="6" name="Text 4"/>
          <p:cNvSpPr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508760"/>
            <a:ext cx="4526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triplet on every table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828800"/>
            <a:ext cx="452628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source_system, source_entity, source_id — I can always trace a row back to where it came from.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00B4A6"/>
          </a:solidFill>
        </p:spPr>
      </p:sp>
      <p:sp>
        <p:nvSpPr>
          <p:cNvPr id="10" name="Text 8"/>
          <p:cNvSpPr/>
          <p:nvPr/>
        </p:nvSpPr>
        <p:spPr>
          <a:xfrm>
            <a:off x="548640" y="260604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560320"/>
            <a:ext cx="4526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Surrogate + natural keys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2880360"/>
            <a:ext cx="452628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entity has a surrogate key (SK) generated in the warehouse, plus the natural key(s) from its source.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00B4A6"/>
          </a:solidFill>
        </p:spPr>
      </p:sp>
      <p:sp>
        <p:nvSpPr>
          <p:cNvPr id="14" name="Text 12"/>
          <p:cNvSpPr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611880"/>
            <a:ext cx="4526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Normalized hierarchies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931920"/>
            <a:ext cx="452628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CE_CATEGORY -&gt; CE_SUBCATEGORY -&gt; CE_PRODUCT and CE_COUNTRY -&gt; CE_REGION -&gt; CE_STORE, flattened into one row per dimension in BL_DM.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457200" cy="457200"/>
          </a:xfrm>
          <a:prstGeom prst="ellipse">
            <a:avLst/>
          </a:prstGeom>
          <a:solidFill>
            <a:srgbClr val="00B4A6"/>
          </a:solidFill>
        </p:spPr>
      </p:sp>
      <p:sp>
        <p:nvSpPr>
          <p:cNvPr id="18" name="Text 16"/>
          <p:cNvSpPr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663440"/>
            <a:ext cx="4526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Defaults instead of NULLs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4983480"/>
            <a:ext cx="452628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BL_3NF dimension has a -1 / ‘n. a.’ default row, so a LEFT JOIN lookup never drops a row.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26480" y="1554480"/>
            <a:ext cx="5532120" cy="4389120"/>
          </a:xfrm>
          <a:prstGeom prst="roundRect">
            <a:avLst>
              <a:gd name="adj" fmla="val 1667"/>
            </a:avLst>
          </a:prstGeom>
          <a:solidFill>
            <a:srgbClr val="1E2761"/>
          </a:solidFill>
        </p:spPr>
      </p:sp>
      <p:sp>
        <p:nvSpPr>
          <p:cNvPr id="22" name="Text 20"/>
          <p:cNvSpPr/>
          <p:nvPr/>
        </p:nvSpPr>
        <p:spPr>
          <a:xfrm>
            <a:off x="6400800" y="1783080"/>
            <a:ext cx="5029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SCD Type 2 — CE_CUSTOMER / DIM_CUSTOMERS_SCD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0" y="224028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Tracked: segment, type, city, loyalty score, age group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2834640"/>
            <a:ext cx="2148840" cy="1371600"/>
          </a:xfrm>
          <a:prstGeom prst="roundRect">
            <a:avLst>
              <a:gd name="adj" fmla="val 4000"/>
            </a:avLst>
          </a:prstGeom>
          <a:solidFill>
            <a:srgbClr val="2A3570"/>
          </a:solidFill>
        </p:spPr>
      </p:sp>
      <p:sp>
        <p:nvSpPr>
          <p:cNvPr id="25" name="Text 23"/>
          <p:cNvSpPr/>
          <p:nvPr/>
        </p:nvSpPr>
        <p:spPr>
          <a:xfrm>
            <a:off x="6537960" y="2926080"/>
            <a:ext cx="1874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AA7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is_active = 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37960" y="3200400"/>
            <a:ext cx="187452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Segment: Regular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City: Dallas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595360" y="3291840"/>
            <a:ext cx="457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098280" y="2834640"/>
            <a:ext cx="2148840" cy="1371600"/>
          </a:xfrm>
          <a:prstGeom prst="roundRect">
            <a:avLst>
              <a:gd name="adj" fmla="val 4000"/>
            </a:avLst>
          </a:prstGeom>
          <a:solidFill>
            <a:srgbClr val="00B4A6"/>
          </a:solidFill>
        </p:spPr>
      </p:sp>
      <p:sp>
        <p:nvSpPr>
          <p:cNvPr id="29" name="Text 27"/>
          <p:cNvSpPr/>
          <p:nvPr/>
        </p:nvSpPr>
        <p:spPr>
          <a:xfrm>
            <a:off x="9235440" y="2926080"/>
            <a:ext cx="1874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FFF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is_active = 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235440" y="3200400"/>
            <a:ext cx="187452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Segment: Premium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City: Houston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00800" y="4434840"/>
            <a:ext cx="502920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new surrogate key is created every time a tracked attribute changes; the old row is closed (end_dt, is_active=N). The fact table resolves the customer version “as of” the transaction date, so a past sale always points to the attributes that were true at that time.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9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One Procedure Runs the Whole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 to DWH and ETL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10996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548640" y="1463040"/>
            <a:ext cx="11109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B4A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CALL bl_cl.prc_run_all_loads();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63500" dist="25400" dir="5400000" algn="bl" rotWithShape="0">
              <a:srgbClr val="9AA7C7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2633472"/>
            <a:ext cx="384048" cy="384048"/>
          </a:xfrm>
          <a:prstGeom prst="ellipse">
            <a:avLst/>
          </a:prstGeom>
          <a:solidFill>
            <a:srgbClr val="00B4A6"/>
          </a:solidFill>
        </p:spPr>
      </p:sp>
      <p:sp>
        <p:nvSpPr>
          <p:cNvPr id="9" name="Text 7"/>
          <p:cNvSpPr/>
          <p:nvPr/>
        </p:nvSpPr>
        <p:spPr>
          <a:xfrm>
            <a:off x="713232" y="2633472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127248"/>
            <a:ext cx="233172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prc_refresh_bl_3nf()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246888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63500" dist="25400" dir="5400000" algn="bl" rotWithShape="0">
              <a:srgbClr val="9AA7C7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47872" y="2633472"/>
            <a:ext cx="384048" cy="384048"/>
          </a:xfrm>
          <a:prstGeom prst="ellipse">
            <a:avLst/>
          </a:prstGeom>
          <a:solidFill>
            <a:srgbClr val="00B4A6"/>
          </a:solidFill>
        </p:spPr>
      </p:sp>
      <p:sp>
        <p:nvSpPr>
          <p:cNvPr id="13" name="Text 11"/>
          <p:cNvSpPr/>
          <p:nvPr/>
        </p:nvSpPr>
        <p:spPr>
          <a:xfrm>
            <a:off x="3547872" y="2633472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3127248"/>
            <a:ext cx="233172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prc_load_ce_transaction()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46888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63500" dist="25400" dir="5400000" algn="bl" rotWithShape="0">
              <a:srgbClr val="9AA7C7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82512" y="2633472"/>
            <a:ext cx="384048" cy="384048"/>
          </a:xfrm>
          <a:prstGeom prst="ellipse">
            <a:avLst/>
          </a:prstGeom>
          <a:solidFill>
            <a:srgbClr val="00B4A6"/>
          </a:solidFill>
        </p:spPr>
      </p:sp>
      <p:sp>
        <p:nvSpPr>
          <p:cNvPr id="17" name="Text 15"/>
          <p:cNvSpPr/>
          <p:nvPr/>
        </p:nvSpPr>
        <p:spPr>
          <a:xfrm>
            <a:off x="6382512" y="2633472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3127248"/>
            <a:ext cx="233172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prc_load_dim_products()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52560" y="246888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63500" dist="25400" dir="5400000" algn="bl" rotWithShape="0">
              <a:srgbClr val="9AA7C7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17152" y="2633472"/>
            <a:ext cx="384048" cy="384048"/>
          </a:xfrm>
          <a:prstGeom prst="ellipse">
            <a:avLst/>
          </a:prstGeom>
          <a:solidFill>
            <a:srgbClr val="00B4A6"/>
          </a:solidFill>
        </p:spPr>
      </p:sp>
      <p:sp>
        <p:nvSpPr>
          <p:cNvPr id="21" name="Text 19"/>
          <p:cNvSpPr/>
          <p:nvPr/>
        </p:nvSpPr>
        <p:spPr>
          <a:xfrm>
            <a:off x="9217152" y="2633472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89720" y="3127248"/>
            <a:ext cx="233172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prc_load_dim_stores()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20624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63500" dist="25400" dir="5400000" algn="bl" rotWithShape="0">
              <a:srgbClr val="9AA7C7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3232" y="4370832"/>
            <a:ext cx="384048" cy="384048"/>
          </a:xfrm>
          <a:prstGeom prst="ellipse">
            <a:avLst/>
          </a:prstGeom>
          <a:solidFill>
            <a:srgbClr val="00B4A6"/>
          </a:solidFill>
        </p:spPr>
      </p:sp>
      <p:sp>
        <p:nvSpPr>
          <p:cNvPr id="25" name="Text 23"/>
          <p:cNvSpPr/>
          <p:nvPr/>
        </p:nvSpPr>
        <p:spPr>
          <a:xfrm>
            <a:off x="713232" y="4370832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" y="4864608"/>
            <a:ext cx="233172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prc_load_dim_payments_incr()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83280" y="420624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63500" dist="25400" dir="5400000" algn="bl" rotWithShape="0">
              <a:srgbClr val="9AA7C7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547872" y="4370832"/>
            <a:ext cx="384048" cy="384048"/>
          </a:xfrm>
          <a:prstGeom prst="ellipse">
            <a:avLst/>
          </a:prstGeom>
          <a:solidFill>
            <a:srgbClr val="00B4A6"/>
          </a:solidFill>
        </p:spPr>
      </p:sp>
      <p:sp>
        <p:nvSpPr>
          <p:cNvPr id="29" name="Text 27"/>
          <p:cNvSpPr/>
          <p:nvPr/>
        </p:nvSpPr>
        <p:spPr>
          <a:xfrm>
            <a:off x="3547872" y="4370832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0440" y="4864608"/>
            <a:ext cx="233172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prc_load_dim_deliveries()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420624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63500" dist="25400" dir="5400000" algn="bl" rotWithShape="0">
              <a:srgbClr val="9AA7C7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82512" y="4370832"/>
            <a:ext cx="384048" cy="384048"/>
          </a:xfrm>
          <a:prstGeom prst="ellipse">
            <a:avLst/>
          </a:prstGeom>
          <a:solidFill>
            <a:srgbClr val="00B4A6"/>
          </a:solidFill>
        </p:spPr>
      </p:sp>
      <p:sp>
        <p:nvSpPr>
          <p:cNvPr id="33" name="Text 31"/>
          <p:cNvSpPr/>
          <p:nvPr/>
        </p:nvSpPr>
        <p:spPr>
          <a:xfrm>
            <a:off x="6382512" y="4370832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55080" y="4864608"/>
            <a:ext cx="233172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prc_load_dim_customers_scd()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052560" y="420624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63500" dist="25400" dir="5400000" algn="bl" rotWithShape="0">
              <a:srgbClr val="9AA7C7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217152" y="4370832"/>
            <a:ext cx="384048" cy="384048"/>
          </a:xfrm>
          <a:prstGeom prst="ellipse">
            <a:avLst/>
          </a:prstGeom>
          <a:solidFill>
            <a:srgbClr val="00B4A6"/>
          </a:solidFill>
        </p:spPr>
      </p:sp>
      <p:sp>
        <p:nvSpPr>
          <p:cNvPr id="37" name="Text 35"/>
          <p:cNvSpPr/>
          <p:nvPr/>
        </p:nvSpPr>
        <p:spPr>
          <a:xfrm>
            <a:off x="9217152" y="4370832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189720" y="4864608"/>
            <a:ext cx="233172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prc_load_fct_transactions_dd()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step is logged and wrapped in an exception block (bl_cl.mta_etl_log). Tested on the real database, through the genuine file-based path: full run in 1m 57s; re-run with nothing new → every step logs 0 rows.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9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11/11 Requirements — Checked on the Real Database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 to DWH and ETL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effectLst>
            <a:outerShdw blurRad="38100" dist="12700" dir="5400000" algn="bl" rotWithShape="0">
              <a:srgbClr val="9AA7C7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563624"/>
            <a:ext cx="365760" cy="3657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7" name="Text 5"/>
          <p:cNvSpPr/>
          <p:nvPr/>
        </p:nvSpPr>
        <p:spPr>
          <a:xfrm>
            <a:off x="658368" y="1563624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32120" y="1581912"/>
            <a:ext cx="329184" cy="329184"/>
          </a:xfrm>
          <a:prstGeom prst="ellipse">
            <a:avLst/>
          </a:prstGeom>
          <a:solidFill>
            <a:srgbClr val="00B4A6"/>
          </a:solidFill>
        </p:spPr>
      </p:sp>
      <p:sp>
        <p:nvSpPr>
          <p:cNvPr id="9" name="Text 7"/>
          <p:cNvSpPr/>
          <p:nvPr/>
        </p:nvSpPr>
        <p:spPr>
          <a:xfrm>
            <a:off x="5532120" y="1581912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1463040"/>
            <a:ext cx="43434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Logging + exception blocks in every procedure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103120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effectLst>
            <a:outerShdw blurRad="38100" dist="12700" dir="5400000" algn="bl" rotWithShape="0">
              <a:srgbClr val="9AA7C7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" y="2203704"/>
            <a:ext cx="365760" cy="3657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3" name="Text 11"/>
          <p:cNvSpPr/>
          <p:nvPr/>
        </p:nvSpPr>
        <p:spPr>
          <a:xfrm>
            <a:off x="658368" y="2203704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32120" y="2221992"/>
            <a:ext cx="329184" cy="329184"/>
          </a:xfrm>
          <a:prstGeom prst="ellipse">
            <a:avLst/>
          </a:prstGeom>
          <a:solidFill>
            <a:srgbClr val="00B4A6"/>
          </a:solidFill>
        </p:spPr>
      </p:sp>
      <p:sp>
        <p:nvSpPr>
          <p:cNvPr id="15" name="Text 13"/>
          <p:cNvSpPr/>
          <p:nvPr/>
        </p:nvSpPr>
        <p:spPr>
          <a:xfrm>
            <a:off x="5532120" y="2221992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2103120"/>
            <a:ext cx="43434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SCD1 + SCD2 dimensions; ≥1 via MERGE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743200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effectLst>
            <a:outerShdw blurRad="38100" dist="12700" dir="5400000" algn="bl" rotWithShape="0">
              <a:srgbClr val="9AA7C7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2843784"/>
            <a:ext cx="365760" cy="3657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9" name="Text 17"/>
          <p:cNvSpPr/>
          <p:nvPr/>
        </p:nvSpPr>
        <p:spPr>
          <a:xfrm>
            <a:off x="658368" y="2843784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532120" y="2862072"/>
            <a:ext cx="329184" cy="329184"/>
          </a:xfrm>
          <a:prstGeom prst="ellipse">
            <a:avLst/>
          </a:prstGeom>
          <a:solidFill>
            <a:srgbClr val="00B4A6"/>
          </a:solidFill>
        </p:spPr>
      </p:sp>
      <p:sp>
        <p:nvSpPr>
          <p:cNvPr id="21" name="Text 19"/>
          <p:cNvSpPr/>
          <p:nvPr/>
        </p:nvSpPr>
        <p:spPr>
          <a:xfrm>
            <a:off x="5532120" y="2862072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15568" y="2743200"/>
            <a:ext cx="43434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Restartability for each procedure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383280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effectLst>
            <a:outerShdw blurRad="38100" dist="12700" dir="5400000" algn="bl" rotWithShape="0">
              <a:srgbClr val="9AA7C7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8368" y="3483864"/>
            <a:ext cx="365760" cy="3657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5" name="Text 23"/>
          <p:cNvSpPr/>
          <p:nvPr/>
        </p:nvSpPr>
        <p:spPr>
          <a:xfrm>
            <a:off x="658368" y="3483864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532120" y="3502152"/>
            <a:ext cx="329184" cy="329184"/>
          </a:xfrm>
          <a:prstGeom prst="ellipse">
            <a:avLst/>
          </a:prstGeom>
          <a:solidFill>
            <a:srgbClr val="00B4A6"/>
          </a:solidFill>
        </p:spPr>
      </p:sp>
      <p:sp>
        <p:nvSpPr>
          <p:cNvPr id="27" name="Text 25"/>
          <p:cNvSpPr/>
          <p:nvPr/>
        </p:nvSpPr>
        <p:spPr>
          <a:xfrm>
            <a:off x="5532120" y="3502152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15568" y="3383280"/>
            <a:ext cx="43434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 table loaded via partitioning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023360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effectLst>
            <a:outerShdw blurRad="38100" dist="12700" dir="5400000" algn="bl" rotWithShape="0">
              <a:srgbClr val="9AA7C7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8368" y="4123944"/>
            <a:ext cx="365760" cy="3657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1" name="Text 29"/>
          <p:cNvSpPr/>
          <p:nvPr/>
        </p:nvSpPr>
        <p:spPr>
          <a:xfrm>
            <a:off x="658368" y="4123944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532120" y="4142232"/>
            <a:ext cx="329184" cy="329184"/>
          </a:xfrm>
          <a:prstGeom prst="ellipse">
            <a:avLst/>
          </a:prstGeom>
          <a:solidFill>
            <a:srgbClr val="00B4A6"/>
          </a:solidFill>
        </p:spPr>
      </p:sp>
      <p:sp>
        <p:nvSpPr>
          <p:cNvPr id="33" name="Text 31"/>
          <p:cNvSpPr/>
          <p:nvPr/>
        </p:nvSpPr>
        <p:spPr>
          <a:xfrm>
            <a:off x="5532120" y="4142232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115568" y="4023360"/>
            <a:ext cx="43434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triplet on BL_3NF / BL_DM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4663440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effectLst>
            <a:outerShdw blurRad="38100" dist="12700" dir="5400000" algn="bl" rotWithShape="0">
              <a:srgbClr val="9AA7C7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58368" y="4764024"/>
            <a:ext cx="365760" cy="3657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7" name="Text 35"/>
          <p:cNvSpPr/>
          <p:nvPr/>
        </p:nvSpPr>
        <p:spPr>
          <a:xfrm>
            <a:off x="658368" y="4764024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532120" y="4782312"/>
            <a:ext cx="329184" cy="329184"/>
          </a:xfrm>
          <a:prstGeom prst="ellipse">
            <a:avLst/>
          </a:prstGeom>
          <a:solidFill>
            <a:srgbClr val="00B4A6"/>
          </a:solidFill>
        </p:spPr>
      </p:sp>
      <p:sp>
        <p:nvSpPr>
          <p:cNvPr id="39" name="Text 37"/>
          <p:cNvSpPr/>
          <p:nvPr/>
        </p:nvSpPr>
        <p:spPr>
          <a:xfrm>
            <a:off x="5532120" y="4782312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115568" y="4663440"/>
            <a:ext cx="43434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Constraints — PK mandatory, FK optional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217920" y="1463040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effectLst>
            <a:outerShdw blurRad="38100" dist="12700" dir="5400000" algn="bl" rotWithShape="0">
              <a:srgbClr val="9AA7C7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27648" y="1563624"/>
            <a:ext cx="365760" cy="3657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3" name="Text 41"/>
          <p:cNvSpPr/>
          <p:nvPr/>
        </p:nvSpPr>
        <p:spPr>
          <a:xfrm>
            <a:off x="6327648" y="1563624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1201400" y="1581912"/>
            <a:ext cx="329184" cy="329184"/>
          </a:xfrm>
          <a:prstGeom prst="ellipse">
            <a:avLst/>
          </a:prstGeom>
          <a:solidFill>
            <a:srgbClr val="00B4A6"/>
          </a:solidFill>
        </p:spPr>
      </p:sp>
      <p:sp>
        <p:nvSpPr>
          <p:cNvPr id="45" name="Text 43"/>
          <p:cNvSpPr/>
          <p:nvPr/>
        </p:nvSpPr>
        <p:spPr>
          <a:xfrm>
            <a:off x="11201400" y="1581912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6784848" y="1463040"/>
            <a:ext cx="43434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LEFT JOIN + default values, not NULL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217920" y="2103120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effectLst>
            <a:outerShdw blurRad="38100" dist="12700" dir="5400000" algn="bl" rotWithShape="0">
              <a:srgbClr val="9AA7C7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327648" y="2203704"/>
            <a:ext cx="365760" cy="3657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9" name="Text 47"/>
          <p:cNvSpPr/>
          <p:nvPr/>
        </p:nvSpPr>
        <p:spPr>
          <a:xfrm>
            <a:off x="6327648" y="2203704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1201400" y="2221992"/>
            <a:ext cx="329184" cy="329184"/>
          </a:xfrm>
          <a:prstGeom prst="ellipse">
            <a:avLst/>
          </a:prstGeom>
          <a:solidFill>
            <a:srgbClr val="00B4A6"/>
          </a:solidFill>
        </p:spPr>
      </p:sp>
      <p:sp>
        <p:nvSpPr>
          <p:cNvPr id="51" name="Text 49"/>
          <p:cNvSpPr/>
          <p:nvPr/>
        </p:nvSpPr>
        <p:spPr>
          <a:xfrm>
            <a:off x="11201400" y="2221992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6784848" y="2103120"/>
            <a:ext cx="43434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Incremental load for ≥1 table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217920" y="2743200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effectLst>
            <a:outerShdw blurRad="38100" dist="12700" dir="5400000" algn="bl" rotWithShape="0">
              <a:srgbClr val="9AA7C7">
                <a:alpha val="25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327648" y="2843784"/>
            <a:ext cx="365760" cy="3657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55" name="Text 53"/>
          <p:cNvSpPr/>
          <p:nvPr/>
        </p:nvSpPr>
        <p:spPr>
          <a:xfrm>
            <a:off x="6327648" y="2843784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11201400" y="2862072"/>
            <a:ext cx="329184" cy="329184"/>
          </a:xfrm>
          <a:prstGeom prst="ellipse">
            <a:avLst/>
          </a:prstGeom>
          <a:solidFill>
            <a:srgbClr val="00B4A6"/>
          </a:solidFill>
        </p:spPr>
      </p:sp>
      <p:sp>
        <p:nvSpPr>
          <p:cNvPr id="57" name="Text 55"/>
          <p:cNvSpPr/>
          <p:nvPr/>
        </p:nvSpPr>
        <p:spPr>
          <a:xfrm>
            <a:off x="11201400" y="2862072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6784848" y="2743200"/>
            <a:ext cx="43434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Data-quality tests: no dupes + SA→BL coverage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6217920" y="3383280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effectLst>
            <a:outerShdw blurRad="38100" dist="12700" dir="5400000" algn="bl" rotWithShape="0">
              <a:srgbClr val="9AA7C7">
                <a:alpha val="2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327648" y="3483864"/>
            <a:ext cx="365760" cy="3657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1" name="Text 59"/>
          <p:cNvSpPr/>
          <p:nvPr/>
        </p:nvSpPr>
        <p:spPr>
          <a:xfrm>
            <a:off x="6327648" y="3483864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11201400" y="3502152"/>
            <a:ext cx="329184" cy="329184"/>
          </a:xfrm>
          <a:prstGeom prst="ellipse">
            <a:avLst/>
          </a:prstGeom>
          <a:solidFill>
            <a:srgbClr val="00B4A6"/>
          </a:solidFill>
        </p:spPr>
      </p:sp>
      <p:sp>
        <p:nvSpPr>
          <p:cNvPr id="63" name="Text 61"/>
          <p:cNvSpPr/>
          <p:nvPr/>
        </p:nvSpPr>
        <p:spPr>
          <a:xfrm>
            <a:off x="11201400" y="3502152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6784848" y="3383280"/>
            <a:ext cx="43434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Cursors + Execute Immediate present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6217920" y="4023360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effectLst>
            <a:outerShdw blurRad="38100" dist="12700" dir="5400000" algn="bl" rotWithShape="0">
              <a:srgbClr val="9AA7C7">
                <a:alpha val="2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327648" y="4123944"/>
            <a:ext cx="365760" cy="3657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7" name="Text 65"/>
          <p:cNvSpPr/>
          <p:nvPr/>
        </p:nvSpPr>
        <p:spPr>
          <a:xfrm>
            <a:off x="6327648" y="4123944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11201400" y="4142232"/>
            <a:ext cx="329184" cy="329184"/>
          </a:xfrm>
          <a:prstGeom prst="ellipse">
            <a:avLst/>
          </a:prstGeom>
          <a:solidFill>
            <a:srgbClr val="00B4A6"/>
          </a:solidFill>
        </p:spPr>
      </p:sp>
      <p:sp>
        <p:nvSpPr>
          <p:cNvPr id="69" name="Text 67"/>
          <p:cNvSpPr/>
          <p:nvPr/>
        </p:nvSpPr>
        <p:spPr>
          <a:xfrm>
            <a:off x="11201400" y="4142232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6784848" y="4023360"/>
            <a:ext cx="43434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 procedure runs the full pipeline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9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REQUIREMENT #9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Data-Quality Test Suite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 to DWH and ETL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40680" cy="4709160"/>
          </a:xfrm>
          <a:prstGeom prst="roundRect">
            <a:avLst>
              <a:gd name="adj" fmla="val 1553"/>
            </a:avLst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868680" y="1737360"/>
            <a:ext cx="4800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Test Group 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48006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duplicates in the target table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4800600" cy="2606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bl_3nf.ce_transaction — unique transaction_id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bl_dm.fct_transactions_dd — unique (transaction_src_id, event_dt)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5 BL_DM dimensions — unique *_src_id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dim_customers_scd — ≤1 active version per customer, no overlapping date ranges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5577840"/>
            <a:ext cx="4800600" cy="411480"/>
          </a:xfrm>
          <a:prstGeom prst="roundRect">
            <a:avLst>
              <a:gd name="adj" fmla="val 66667"/>
            </a:avLst>
          </a:prstGeom>
          <a:solidFill>
            <a:srgbClr val="00B4A6"/>
          </a:solidFill>
        </p:spPr>
      </p:sp>
      <p:sp>
        <p:nvSpPr>
          <p:cNvPr id="10" name="Text 8"/>
          <p:cNvSpPr/>
          <p:nvPr/>
        </p:nvSpPr>
        <p:spPr>
          <a:xfrm>
            <a:off x="868680" y="5577840"/>
            <a:ext cx="4800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queries: 0 rows on the real database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44068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737360"/>
            <a:ext cx="4800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Test Group 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37960" y="2194560"/>
            <a:ext cx="48006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SA record represented in the business layer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7960" y="2880360"/>
            <a:ext cx="4800600" cy="2606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transaction_id → ce_transaction &amp; fct_transactions_dd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product_id → dim_products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store_id → dim_stores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transaction_id (as payment_id) → dim_payments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transaction_id, online only (as delivery_id) → dim_deliveries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customer_id → active dim_customers_scd row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37960" y="5577840"/>
            <a:ext cx="4800600" cy="411480"/>
          </a:xfrm>
          <a:prstGeom prst="roundRect">
            <a:avLst>
              <a:gd name="adj" fmla="val 66667"/>
            </a:avLst>
          </a:prstGeom>
          <a:solidFill>
            <a:srgbClr val="00B4A6"/>
          </a:solidFill>
        </p:spPr>
      </p:sp>
      <p:sp>
        <p:nvSpPr>
          <p:cNvPr id="16" name="Text 14"/>
          <p:cNvSpPr/>
          <p:nvPr/>
        </p:nvSpPr>
        <p:spPr>
          <a:xfrm>
            <a:off x="6537960" y="5577840"/>
            <a:ext cx="4800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queries: 0 rows on the real database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9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REQUIREMENT: 95% / 5% SPLIT, FROM A REAL FILE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Live Incremental-Load Demo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 to DWH and ETL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 real source files were already fully loaded (500,000 retail + 500,000 online rows), so I generated a new batch and appended it straight into the two CSV files — same file, same path — so the increment genuinely comes from a file.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AA7C7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468880"/>
            <a:ext cx="3520440" cy="96012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1,000,000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3429000"/>
            <a:ext cx="324612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rows already loaded (95%)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233172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AA7C7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51960" y="2468880"/>
            <a:ext cx="3520440" cy="96012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897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52,632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389120" y="3429000"/>
            <a:ext cx="324612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rows appended to file (5%)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55280" y="233172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AA7C7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955280" y="2468880"/>
            <a:ext cx="3520440" cy="96012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26,316 / 26,316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092440" y="3429000"/>
            <a:ext cx="324612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retail / online split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1092708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</p:spPr>
      </p:sp>
      <p:sp>
        <p:nvSpPr>
          <p:cNvPr id="16" name="Text 14"/>
          <p:cNvSpPr/>
          <p:nvPr/>
        </p:nvSpPr>
        <p:spPr>
          <a:xfrm>
            <a:off x="868680" y="438912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Method: “resample, don’t invent”, appended to the real CSV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4800600"/>
            <a:ext cx="1033272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new row is a copy of a randomly picked REAL existing row (so the customer/product/store/payment combination is always valid), with a brand-new TransactionID and appended to the end of retail_500k.csv / online_500k.csv. The foreign tables are untouched — same destination, same filename. Loading it: INSERT only new ids into staging (WHERE NOT EXISTS), then set the date to bl_dm.fct_transactions_dd’s own MAX(event_dt), then run the pipeline.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TESTED ON THE REAL DATABASE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Results at Full 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242C63"/>
          </a:solidFill>
        </p:spPr>
      </p:sp>
      <p:sp>
        <p:nvSpPr>
          <p:cNvPr id="5" name="Text 3"/>
          <p:cNvSpPr/>
          <p:nvPr/>
        </p:nvSpPr>
        <p:spPr>
          <a:xfrm>
            <a:off x="548640" y="2057400"/>
            <a:ext cx="2606040" cy="132588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A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52,632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3383280"/>
            <a:ext cx="233172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rows loaded end to end, from a real CSV file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19202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242C63"/>
          </a:solidFill>
        </p:spPr>
      </p:sp>
      <p:sp>
        <p:nvSpPr>
          <p:cNvPr id="8" name="Text 6"/>
          <p:cNvSpPr/>
          <p:nvPr/>
        </p:nvSpPr>
        <p:spPr>
          <a:xfrm>
            <a:off x="3429000" y="2057400"/>
            <a:ext cx="2606040" cy="132588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A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1m 57s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66160" y="3383280"/>
            <a:ext cx="233172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 runtime, this exact file-based batch (under the 5 min limit)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9202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242C63"/>
          </a:solidFill>
        </p:spPr>
      </p:sp>
      <p:sp>
        <p:nvSpPr>
          <p:cNvPr id="11" name="Text 9"/>
          <p:cNvSpPr/>
          <p:nvPr/>
        </p:nvSpPr>
        <p:spPr>
          <a:xfrm>
            <a:off x="6309360" y="2057400"/>
            <a:ext cx="2606040" cy="132588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A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446520" y="3383280"/>
            <a:ext cx="233172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duplicates found (Test group 1)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89720" y="19202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242C63"/>
          </a:solidFill>
        </p:spPr>
      </p:sp>
      <p:sp>
        <p:nvSpPr>
          <p:cNvPr id="14" name="Text 12"/>
          <p:cNvSpPr/>
          <p:nvPr/>
        </p:nvSpPr>
        <p:spPr>
          <a:xfrm>
            <a:off x="9189720" y="2057400"/>
            <a:ext cx="2606040" cy="132588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A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326880" y="3383280"/>
            <a:ext cx="233172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rows re-loaded on restart (Test group 3)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 of the batch reached bl_dm.fct_transactions_dd — nothing excluded by the rolling-window cutoff. Running the pipeline again with nothing new staged logged rows_affected = 0 for all 9 procedures.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10927080" cy="1280160"/>
          </a:xfrm>
          <a:prstGeom prst="roundRect">
            <a:avLst>
              <a:gd name="adj" fmla="val 5714"/>
            </a:avLst>
          </a:prstGeom>
          <a:solidFill>
            <a:srgbClr val="242C63"/>
          </a:solidFill>
        </p:spPr>
      </p:sp>
      <p:sp>
        <p:nvSpPr>
          <p:cNvPr id="18" name="Text 16"/>
          <p:cNvSpPr/>
          <p:nvPr/>
        </p:nvSpPr>
        <p:spPr>
          <a:xfrm>
            <a:off x="868680" y="5193792"/>
            <a:ext cx="10332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dim_customers_scd — a real, named SCD2 test case: customer 1464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5532120"/>
            <a:ext cx="103327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Segment, city, loyalty score and age group all differ between customer 1464’s current row and their resampled transaction — SCD2 closes the old version and opens a new one, shown before/after in Presentation_Demo_Package.sql.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9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Design Decisions and Mentor Feedback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 to DWH and ETL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1099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5400">
            <a:solidFill>
              <a:srgbClr val="00B4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71600"/>
            <a:ext cx="914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CADCF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“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371600" y="1600200"/>
            <a:ext cx="996696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SCD2 logic works well for incremental loads, but it is not designed to reconstruct all historical versions from a full backfill. This is acceptable for the current scope and can be left as is.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5146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Mentor feedback, Task 7 / Task 9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4F7FC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566160"/>
            <a:ext cx="306324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Rolling window anchor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4114800"/>
            <a:ext cx="3063240" cy="1874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Anchored on the latest month in my own data (GREATEST across BL_3NF and BL_DM), not CURRENT_DATE — my source is a fixed historical dataset, not a live daily feed.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333756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4F7FC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3566160"/>
            <a:ext cx="306324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Detached partitions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26280" y="4114800"/>
            <a:ext cx="3063240" cy="1874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DETACH, never DROP — a rolled-out month stays a normal, queryable table. Full history also always stays on the un-partitioned BL_3NF layer.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333756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4F7FC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3566160"/>
            <a:ext cx="306324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 batch quality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75320" y="4114800"/>
            <a:ext cx="3063240" cy="1874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resample real rows instead of inventing data, so every generated row is a valid, realistic combination.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9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Multi-Source Uniqueness and Source Lineage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 to DWH and ETL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1099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5400">
            <a:solidFill>
              <a:srgbClr val="00B4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71600"/>
            <a:ext cx="914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CADCF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“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371600" y="1600200"/>
            <a:ext cx="996696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unique constraints on dimensions are defined only on source IDs. Source triplet is stored but not consistently used in NK-based joins and lookups, and it loses source lineage for the discarded source rows.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5146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Mentor feedback, BL_DM &amp; BL_3NF review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4F7FC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566160"/>
            <a:ext cx="306324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Composite uniqueness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4114800"/>
            <a:ext cx="3063240" cy="1874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Product, store, payment and delivery IDs are only unique inside one source. I widened every affected UNIQUE constraint to (source_system, id), on both BL_3NF and BL_DM.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333756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4F7FC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3566160"/>
            <a:ext cx="306324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Source-aware matching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26280" y="4114800"/>
            <a:ext cx="3063240" cy="1874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Dedup logic and the fact-table joins now match on source_system too, not just the natural ID — so a coincidental ID collision between sources can never merge into one row.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333756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4F7FC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3566160"/>
            <a:ext cx="306324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Conformed vs. source-specific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75320" y="4114800"/>
            <a:ext cx="3063240" cy="1874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Category, subcategory, country and region still merge by name on purpose — same real-world thing regardless of source. That’s a documented rule, not an oversight.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474720"/>
            <a:ext cx="9144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and live demo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297680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2A3570"/>
          </a:solidFill>
        </p:spPr>
      </p:sp>
      <p:sp>
        <p:nvSpPr>
          <p:cNvPr id="6" name="Text 4"/>
          <p:cNvSpPr/>
          <p:nvPr/>
        </p:nvSpPr>
        <p:spPr>
          <a:xfrm>
            <a:off x="822960" y="4297680"/>
            <a:ext cx="1051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74520" y="4297680"/>
            <a:ext cx="18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&gt;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57400" y="4297680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2A3570"/>
          </a:solidFill>
        </p:spPr>
      </p:sp>
      <p:sp>
        <p:nvSpPr>
          <p:cNvPr id="9" name="Text 7"/>
          <p:cNvSpPr/>
          <p:nvPr/>
        </p:nvSpPr>
        <p:spPr>
          <a:xfrm>
            <a:off x="2057400" y="4297680"/>
            <a:ext cx="1051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BL_3NF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4297680"/>
            <a:ext cx="18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&gt;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4297680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2A3570"/>
          </a:solidFill>
        </p:spPr>
      </p:sp>
      <p:sp>
        <p:nvSpPr>
          <p:cNvPr id="12" name="Text 10"/>
          <p:cNvSpPr/>
          <p:nvPr/>
        </p:nvSpPr>
        <p:spPr>
          <a:xfrm>
            <a:off x="3291840" y="4297680"/>
            <a:ext cx="1051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BL_DM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43400" y="4297680"/>
            <a:ext cx="182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&gt;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26280" y="4297680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00B4A6"/>
          </a:solidFill>
        </p:spPr>
      </p:sp>
      <p:sp>
        <p:nvSpPr>
          <p:cNvPr id="15" name="Text 13"/>
          <p:cNvSpPr/>
          <p:nvPr/>
        </p:nvSpPr>
        <p:spPr>
          <a:xfrm>
            <a:off x="4526280" y="4297680"/>
            <a:ext cx="1051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BL_CL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Mariam Avaliani  |  Introduction to DWH and ETL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8064</Words>
  <Application>WPS Presentation</Application>
  <PresentationFormat>On-screen Show (16:9)</PresentationFormat>
  <Paragraphs>449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8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Courier New</vt:lpstr>
      <vt:lpstr>Courier New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DWH and ETL</dc:title>
  <dc:creator>Mariam Avaliani</dc:creator>
  <dc:subject>PptxGenJS Presentation</dc:subject>
  <cp:lastModifiedBy>mariam avaliani</cp:lastModifiedBy>
  <cp:revision>4</cp:revision>
  <dcterms:created xsi:type="dcterms:W3CDTF">2026-07-26T16:19:00Z</dcterms:created>
  <dcterms:modified xsi:type="dcterms:W3CDTF">2026-07-31T14:05:43Z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FA3E73272B4F45EF9F8BA28DCED7A0BA_12</vt:lpwstr>
  </property>
</Properties>
</file>